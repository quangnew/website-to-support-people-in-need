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Playfair Display Bold" charset="1" panose="00000000000000000000"/>
      <p:regular r:id="rId27"/>
    </p:embeddedFont>
    <p:embeddedFont>
      <p:font typeface="Playfair Display Medium" charset="1" panose="00000000000000000000"/>
      <p:regular r:id="rId28"/>
    </p:embeddedFont>
    <p:embeddedFont>
      <p:font typeface="Playfair Display Semi-Bold" charset="1" panose="00000000000000000000"/>
      <p:regular r:id="rId29"/>
    </p:embeddedFont>
    <p:embeddedFont>
      <p:font typeface="Playfair Display Ultra-Bold" charset="1" panose="00000000000000000000"/>
      <p:regular r:id="rId30"/>
    </p:embeddedFont>
    <p:embeddedFont>
      <p:font typeface="Playfair Display" charset="1" panose="00000000000000000000"/>
      <p:regular r:id="rId31"/>
    </p:embeddedFont>
    <p:embeddedFont>
      <p:font typeface="Open Sans Bold Italics" charset="1" panose="020B0806030504020204"/>
      <p:regular r:id="rId32"/>
    </p:embeddedFont>
    <p:embeddedFont>
      <p:font typeface="Open Sans Bold" charset="1" panose="020B0806030504020204"/>
      <p:regular r:id="rId33"/>
    </p:embeddedFont>
    <p:embeddedFont>
      <p:font typeface="Open Sans" charset="1" panose="020B0606030504020204"/>
      <p:regular r:id="rId34"/>
    </p:embeddedFont>
    <p:embeddedFont>
      <p:font typeface="Open Sans Italics" charset="1" panose="020B0606030504020204"/>
      <p:regular r:id="rId35"/>
    </p:embeddedFont>
    <p:embeddedFont>
      <p:font typeface="Heading Now 61-68 Bold" charset="1" panose="0000000000000000000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https://hotrocuutro.site" TargetMode="External" Type="http://schemas.openxmlformats.org/officeDocument/2006/relationships/hyperlink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5A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-9880190" y="3974558"/>
            <a:ext cx="19691459" cy="3786298"/>
            <a:chOff x="0" y="0"/>
            <a:chExt cx="5186228" cy="9972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6228" cy="997214"/>
            </a:xfrm>
            <a:custGeom>
              <a:avLst/>
              <a:gdLst/>
              <a:ahLst/>
              <a:cxnLst/>
              <a:rect r="r" b="b" t="t" l="l"/>
              <a:pathLst>
                <a:path h="997214" w="5186228">
                  <a:moveTo>
                    <a:pt x="0" y="0"/>
                  </a:moveTo>
                  <a:lnTo>
                    <a:pt x="5186228" y="0"/>
                  </a:lnTo>
                  <a:lnTo>
                    <a:pt x="5186228" y="997214"/>
                  </a:lnTo>
                  <a:lnTo>
                    <a:pt x="0" y="9972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86228" cy="1035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-3882315" y="4665083"/>
            <a:ext cx="10525172" cy="956834"/>
          </a:xfrm>
          <a:custGeom>
            <a:avLst/>
            <a:gdLst/>
            <a:ahLst/>
            <a:cxnLst/>
            <a:rect r="r" b="b" t="t" l="l"/>
            <a:pathLst>
              <a:path h="956834" w="10525172">
                <a:moveTo>
                  <a:pt x="0" y="0"/>
                </a:moveTo>
                <a:lnTo>
                  <a:pt x="10525172" y="0"/>
                </a:lnTo>
                <a:lnTo>
                  <a:pt x="10525172" y="956834"/>
                </a:lnTo>
                <a:lnTo>
                  <a:pt x="0" y="9568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051584" y="190701"/>
            <a:ext cx="1905000" cy="1905000"/>
          </a:xfrm>
          <a:custGeom>
            <a:avLst/>
            <a:gdLst/>
            <a:ahLst/>
            <a:cxnLst/>
            <a:rect r="r" b="b" t="t" l="l"/>
            <a:pathLst>
              <a:path h="1905000" w="1905000">
                <a:moveTo>
                  <a:pt x="0" y="0"/>
                </a:moveTo>
                <a:lnTo>
                  <a:pt x="1905000" y="0"/>
                </a:lnTo>
                <a:lnTo>
                  <a:pt x="1905000" y="1905000"/>
                </a:lnTo>
                <a:lnTo>
                  <a:pt x="0" y="1905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763688" y="3917167"/>
            <a:ext cx="13495612" cy="1526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60"/>
              </a:lnSpc>
            </a:pPr>
            <a:r>
              <a:rPr lang="en-US" b="true" sz="4400" spc="176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XÂY DỰNG WEBSITE HỖ TRỢ KẾT NỐI VỚI NHỮNG NGƯỜI CÓ HOÀN CẢNH KHÓ KHĂN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674187" y="6326917"/>
            <a:ext cx="9674615" cy="2807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b="true" sz="2799" spc="111">
                <a:solidFill>
                  <a:srgbClr val="FFFFFF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Người hướng dẫn:              ThS. Nguyễn Văn Nguyên</a:t>
            </a:r>
          </a:p>
          <a:p>
            <a:pPr algn="just">
              <a:lnSpc>
                <a:spcPts val="1800"/>
              </a:lnSpc>
            </a:pPr>
          </a:p>
          <a:p>
            <a:pPr algn="just">
              <a:lnSpc>
                <a:spcPts val="4199"/>
              </a:lnSpc>
            </a:pPr>
            <a:r>
              <a:rPr lang="en-US" b="true" sz="2799" spc="111">
                <a:solidFill>
                  <a:srgbClr val="FFFFFF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Sinh viên thực hiện:          Ngô Hữu Chí Quang</a:t>
            </a:r>
          </a:p>
          <a:p>
            <a:pPr algn="just">
              <a:lnSpc>
                <a:spcPts val="4199"/>
              </a:lnSpc>
            </a:pPr>
            <a:r>
              <a:rPr lang="en-US" b="true" sz="2799" spc="111">
                <a:solidFill>
                  <a:srgbClr val="FFFFFF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                                            Hoàng Trần Đức Hải</a:t>
            </a:r>
          </a:p>
          <a:p>
            <a:pPr algn="just">
              <a:lnSpc>
                <a:spcPts val="4199"/>
              </a:lnSpc>
            </a:pPr>
            <a:r>
              <a:rPr lang="en-US" b="true" sz="2799" spc="111">
                <a:solidFill>
                  <a:srgbClr val="FFFFFF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                                            Lê Xuân Phúc</a:t>
            </a:r>
          </a:p>
          <a:p>
            <a:pPr algn="just" marL="0" indent="0" lvl="0">
              <a:lnSpc>
                <a:spcPts val="4199"/>
              </a:lnSpc>
            </a:pPr>
            <a:r>
              <a:rPr lang="en-US" b="true" sz="2799" spc="111">
                <a:solidFill>
                  <a:srgbClr val="FFFFFF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                                            Lê Quang Đạt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763688" y="425767"/>
            <a:ext cx="13495612" cy="1320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00"/>
              </a:lnSpc>
            </a:pPr>
            <a:r>
              <a:rPr lang="en-US" b="true" sz="3200" spc="128">
                <a:solidFill>
                  <a:srgbClr val="FFDE59"/>
                </a:solidFill>
                <a:latin typeface="Playfair Display Semi-Bold"/>
                <a:ea typeface="Playfair Display Semi-Bold"/>
                <a:cs typeface="Playfair Display Semi-Bold"/>
                <a:sym typeface="Playfair Display Semi-Bold"/>
              </a:rPr>
              <a:t>TRƯỜNG ĐẠI HỌC BÁCH KHOA</a:t>
            </a:r>
          </a:p>
          <a:p>
            <a:pPr algn="ctr" marL="0" indent="0" lvl="0">
              <a:lnSpc>
                <a:spcPts val="5999"/>
              </a:lnSpc>
            </a:pPr>
            <a:r>
              <a:rPr lang="en-US" b="true" sz="3999" spc="159">
                <a:solidFill>
                  <a:srgbClr val="FFDE59"/>
                </a:solidFill>
                <a:latin typeface="Playfair Display Semi-Bold"/>
                <a:ea typeface="Playfair Display Semi-Bold"/>
                <a:cs typeface="Playfair Display Semi-Bold"/>
                <a:sym typeface="Playfair Display Semi-Bold"/>
              </a:rPr>
              <a:t>KHOA CÔNG NGHỆ THÔNG TIN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63688" y="2695776"/>
            <a:ext cx="13495612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59"/>
              </a:lnSpc>
            </a:pPr>
            <a:r>
              <a:rPr lang="en-US" b="true" sz="4800" spc="192">
                <a:solidFill>
                  <a:srgbClr val="FFFFFF"/>
                </a:solidFill>
                <a:latin typeface="Playfair Display Ultra-Bold"/>
                <a:ea typeface="Playfair Display Ultra-Bold"/>
                <a:cs typeface="Playfair Display Ultra-Bold"/>
                <a:sym typeface="Playfair Display Ultra-Bold"/>
              </a:rPr>
              <a:t>DỰ</a:t>
            </a:r>
            <a:r>
              <a:rPr lang="en-US" b="true" sz="4800" spc="192">
                <a:solidFill>
                  <a:srgbClr val="FFFFFF"/>
                </a:solidFill>
                <a:latin typeface="Playfair Display Ultra-Bold"/>
                <a:ea typeface="Playfair Display Ultra-Bold"/>
                <a:cs typeface="Playfair Display Ultra-Bold"/>
                <a:sym typeface="Playfair Display Ultra-Bold"/>
              </a:rPr>
              <a:t> ÁN LẬP TRÌNH ỨNG DỤNG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5A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3972939" y="4784169"/>
            <a:ext cx="10525172" cy="956834"/>
          </a:xfrm>
          <a:custGeom>
            <a:avLst/>
            <a:gdLst/>
            <a:ahLst/>
            <a:cxnLst/>
            <a:rect r="r" b="b" t="t" l="l"/>
            <a:pathLst>
              <a:path h="956834" w="10525172">
                <a:moveTo>
                  <a:pt x="0" y="0"/>
                </a:moveTo>
                <a:lnTo>
                  <a:pt x="10525172" y="0"/>
                </a:lnTo>
                <a:lnTo>
                  <a:pt x="10525172" y="956834"/>
                </a:lnTo>
                <a:lnTo>
                  <a:pt x="0" y="9568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586635" y="-238172"/>
            <a:ext cx="9124426" cy="10763345"/>
            <a:chOff x="0" y="0"/>
            <a:chExt cx="2403141" cy="28347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03141" cy="2834790"/>
            </a:xfrm>
            <a:custGeom>
              <a:avLst/>
              <a:gdLst/>
              <a:ahLst/>
              <a:cxnLst/>
              <a:rect r="r" b="b" t="t" l="l"/>
              <a:pathLst>
                <a:path h="2834790" w="2403141">
                  <a:moveTo>
                    <a:pt x="0" y="0"/>
                  </a:moveTo>
                  <a:lnTo>
                    <a:pt x="2403141" y="0"/>
                  </a:lnTo>
                  <a:lnTo>
                    <a:pt x="2403141" y="2834790"/>
                  </a:lnTo>
                  <a:lnTo>
                    <a:pt x="0" y="283479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03141" cy="2872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29882" y="3276923"/>
            <a:ext cx="6189026" cy="5981377"/>
            <a:chOff x="0" y="0"/>
            <a:chExt cx="958842" cy="9266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58842" cy="926672"/>
            </a:xfrm>
            <a:custGeom>
              <a:avLst/>
              <a:gdLst/>
              <a:ahLst/>
              <a:cxnLst/>
              <a:rect r="r" b="b" t="t" l="l"/>
              <a:pathLst>
                <a:path h="926672" w="958842">
                  <a:moveTo>
                    <a:pt x="0" y="0"/>
                  </a:moveTo>
                  <a:lnTo>
                    <a:pt x="958842" y="0"/>
                  </a:lnTo>
                  <a:lnTo>
                    <a:pt x="958842" y="926672"/>
                  </a:lnTo>
                  <a:lnTo>
                    <a:pt x="0" y="926672"/>
                  </a:lnTo>
                  <a:close/>
                </a:path>
              </a:pathLst>
            </a:custGeom>
            <a:blipFill>
              <a:blip r:embed="rId3"/>
              <a:stretch>
                <a:fillRect l="0" t="-1735" r="0" b="-1735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729882" y="2000203"/>
            <a:ext cx="6189026" cy="85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56"/>
              </a:lnSpc>
            </a:pPr>
            <a:r>
              <a:rPr lang="en-US" b="true" sz="6800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MỤC LỤC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42617" y="2814637"/>
            <a:ext cx="5883266" cy="443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sz="3999" spc="159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Tổng quan đề tài</a:t>
            </a:r>
          </a:p>
          <a:p>
            <a:pPr algn="l">
              <a:lnSpc>
                <a:spcPts val="7199"/>
              </a:lnSpc>
            </a:pPr>
            <a:r>
              <a:rPr lang="en-US" sz="3999" spc="159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Cơ sở lý thuyết</a:t>
            </a:r>
          </a:p>
          <a:p>
            <a:pPr algn="l">
              <a:lnSpc>
                <a:spcPts val="7199"/>
              </a:lnSpc>
            </a:pPr>
            <a:r>
              <a:rPr lang="en-US" sz="3999" spc="159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Phân tích &amp; thiết kế</a:t>
            </a:r>
          </a:p>
          <a:p>
            <a:pPr algn="l">
              <a:lnSpc>
                <a:spcPts val="7199"/>
              </a:lnSpc>
            </a:pPr>
            <a:r>
              <a:rPr lang="en-US" sz="3999" spc="159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Chương trình &amp; kết quả</a:t>
            </a:r>
          </a:p>
          <a:p>
            <a:pPr algn="l">
              <a:lnSpc>
                <a:spcPts val="7199"/>
              </a:lnSpc>
            </a:pPr>
            <a:r>
              <a:rPr lang="en-US" sz="3999" spc="159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Kết luận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5A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4712303" y="4784169"/>
            <a:ext cx="10525172" cy="956834"/>
          </a:xfrm>
          <a:custGeom>
            <a:avLst/>
            <a:gdLst/>
            <a:ahLst/>
            <a:cxnLst/>
            <a:rect r="r" b="b" t="t" l="l"/>
            <a:pathLst>
              <a:path h="956834" w="10525172">
                <a:moveTo>
                  <a:pt x="0" y="0"/>
                </a:moveTo>
                <a:lnTo>
                  <a:pt x="10525172" y="0"/>
                </a:lnTo>
                <a:lnTo>
                  <a:pt x="10525172" y="956834"/>
                </a:lnTo>
                <a:lnTo>
                  <a:pt x="0" y="9568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-238172"/>
            <a:ext cx="17720127" cy="10763345"/>
            <a:chOff x="0" y="0"/>
            <a:chExt cx="4667029" cy="28347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667029" cy="2834790"/>
            </a:xfrm>
            <a:custGeom>
              <a:avLst/>
              <a:gdLst/>
              <a:ahLst/>
              <a:cxnLst/>
              <a:rect r="r" b="b" t="t" l="l"/>
              <a:pathLst>
                <a:path h="2834790" w="4667029">
                  <a:moveTo>
                    <a:pt x="0" y="0"/>
                  </a:moveTo>
                  <a:lnTo>
                    <a:pt x="4667029" y="0"/>
                  </a:lnTo>
                  <a:lnTo>
                    <a:pt x="4667029" y="2834790"/>
                  </a:lnTo>
                  <a:lnTo>
                    <a:pt x="0" y="283479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667029" cy="2872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10767060" y="1047750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2012930" y="765778"/>
            <a:ext cx="5246370" cy="8755444"/>
            <a:chOff x="0" y="0"/>
            <a:chExt cx="812800" cy="135644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1356447"/>
            </a:xfrm>
            <a:custGeom>
              <a:avLst/>
              <a:gdLst/>
              <a:ahLst/>
              <a:cxnLst/>
              <a:rect r="r" b="b" t="t" l="l"/>
              <a:pathLst>
                <a:path h="135644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356447"/>
                  </a:lnTo>
                  <a:lnTo>
                    <a:pt x="0" y="1356447"/>
                  </a:lnTo>
                  <a:close/>
                </a:path>
              </a:pathLst>
            </a:custGeom>
            <a:blipFill>
              <a:blip r:embed="rId3"/>
              <a:stretch>
                <a:fillRect l="0" t="-2562" r="0" b="-2562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596986" y="400685"/>
            <a:ext cx="8049031" cy="1160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20"/>
              </a:lnSpc>
            </a:pPr>
            <a:r>
              <a:rPr lang="en-US" sz="6800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TỔNG QUAN ĐỀ TÀI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52652" y="2917050"/>
            <a:ext cx="8614408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i="true">
                <a:solidFill>
                  <a:srgbClr val="1A2161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Đồ án "Xây dựng website hỗ trợ kết nối với những người có hoàn cảnh khó khăn – ReliefConnect" nhằm phát triển nền tảng web kết nối cung-cầu cứu trợ trong tình huống khẩn cấp.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52652" y="5345570"/>
            <a:ext cx="8121489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Mục đích:</a:t>
            </a:r>
            <a:r>
              <a:rPr lang="en-US" sz="2799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Kết nối nhanh chóng "cung – cầu" cứu trợ trong tình huống khẩn cấp, chuẩn hóa luồng thông tin và giúp sinh viên rèn luyện toàn diện quy trình phát  triển một dự án phần mềm.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5A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3900976" y="2640839"/>
            <a:ext cx="4463340" cy="405758"/>
          </a:xfrm>
          <a:custGeom>
            <a:avLst/>
            <a:gdLst/>
            <a:ahLst/>
            <a:cxnLst/>
            <a:rect r="r" b="b" t="t" l="l"/>
            <a:pathLst>
              <a:path h="405758" w="4463340">
                <a:moveTo>
                  <a:pt x="0" y="0"/>
                </a:moveTo>
                <a:lnTo>
                  <a:pt x="4463339" y="0"/>
                </a:lnTo>
                <a:lnTo>
                  <a:pt x="4463339" y="405758"/>
                </a:lnTo>
                <a:lnTo>
                  <a:pt x="0" y="4057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900976" y="2954122"/>
            <a:ext cx="4463340" cy="8689845"/>
            <a:chOff x="0" y="0"/>
            <a:chExt cx="1175530" cy="22886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5530" cy="2288683"/>
            </a:xfrm>
            <a:custGeom>
              <a:avLst/>
              <a:gdLst/>
              <a:ahLst/>
              <a:cxnLst/>
              <a:rect r="r" b="b" t="t" l="l"/>
              <a:pathLst>
                <a:path h="2288683" w="1175530">
                  <a:moveTo>
                    <a:pt x="0" y="0"/>
                  </a:moveTo>
                  <a:lnTo>
                    <a:pt x="1175530" y="0"/>
                  </a:lnTo>
                  <a:lnTo>
                    <a:pt x="1175530" y="2288683"/>
                  </a:lnTo>
                  <a:lnTo>
                    <a:pt x="0" y="228868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175530" cy="2326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55546" y="3238222"/>
            <a:ext cx="3116830" cy="6554344"/>
            <a:chOff x="0" y="0"/>
            <a:chExt cx="482878" cy="101543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2878" cy="1015439"/>
            </a:xfrm>
            <a:custGeom>
              <a:avLst/>
              <a:gdLst/>
              <a:ahLst/>
              <a:cxnLst/>
              <a:rect r="r" b="b" t="t" l="l"/>
              <a:pathLst>
                <a:path h="1015439" w="482878">
                  <a:moveTo>
                    <a:pt x="0" y="0"/>
                  </a:moveTo>
                  <a:lnTo>
                    <a:pt x="482878" y="0"/>
                  </a:lnTo>
                  <a:lnTo>
                    <a:pt x="482878" y="1015439"/>
                  </a:lnTo>
                  <a:lnTo>
                    <a:pt x="0" y="1015439"/>
                  </a:lnTo>
                  <a:close/>
                </a:path>
              </a:pathLst>
            </a:custGeom>
            <a:blipFill>
              <a:blip r:embed="rId3"/>
              <a:stretch>
                <a:fillRect l="-38553" t="-30855" r="-18295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-10800000">
            <a:off x="8592173" y="2640839"/>
            <a:ext cx="4463340" cy="405758"/>
          </a:xfrm>
          <a:custGeom>
            <a:avLst/>
            <a:gdLst/>
            <a:ahLst/>
            <a:cxnLst/>
            <a:rect r="r" b="b" t="t" l="l"/>
            <a:pathLst>
              <a:path h="405758" w="4463340">
                <a:moveTo>
                  <a:pt x="0" y="0"/>
                </a:moveTo>
                <a:lnTo>
                  <a:pt x="4463340" y="0"/>
                </a:lnTo>
                <a:lnTo>
                  <a:pt x="4463340" y="405758"/>
                </a:lnTo>
                <a:lnTo>
                  <a:pt x="0" y="4057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591431" y="2954122"/>
            <a:ext cx="4463340" cy="8689845"/>
            <a:chOff x="0" y="0"/>
            <a:chExt cx="1175530" cy="22886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75530" cy="2288683"/>
            </a:xfrm>
            <a:custGeom>
              <a:avLst/>
              <a:gdLst/>
              <a:ahLst/>
              <a:cxnLst/>
              <a:rect r="r" b="b" t="t" l="l"/>
              <a:pathLst>
                <a:path h="2288683" w="1175530">
                  <a:moveTo>
                    <a:pt x="0" y="0"/>
                  </a:moveTo>
                  <a:lnTo>
                    <a:pt x="1175530" y="0"/>
                  </a:lnTo>
                  <a:lnTo>
                    <a:pt x="1175530" y="2288683"/>
                  </a:lnTo>
                  <a:lnTo>
                    <a:pt x="0" y="228868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175530" cy="2326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3284113" y="2640839"/>
            <a:ext cx="4463340" cy="405758"/>
          </a:xfrm>
          <a:custGeom>
            <a:avLst/>
            <a:gdLst/>
            <a:ahLst/>
            <a:cxnLst/>
            <a:rect r="r" b="b" t="t" l="l"/>
            <a:pathLst>
              <a:path h="405758" w="4463340">
                <a:moveTo>
                  <a:pt x="0" y="0"/>
                </a:moveTo>
                <a:lnTo>
                  <a:pt x="4463340" y="0"/>
                </a:lnTo>
                <a:lnTo>
                  <a:pt x="4463340" y="405758"/>
                </a:lnTo>
                <a:lnTo>
                  <a:pt x="0" y="4057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3283370" y="2954122"/>
            <a:ext cx="4463340" cy="8689845"/>
            <a:chOff x="0" y="0"/>
            <a:chExt cx="1175530" cy="228868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75530" cy="2288683"/>
            </a:xfrm>
            <a:custGeom>
              <a:avLst/>
              <a:gdLst/>
              <a:ahLst/>
              <a:cxnLst/>
              <a:rect r="r" b="b" t="t" l="l"/>
              <a:pathLst>
                <a:path h="2288683" w="1175530">
                  <a:moveTo>
                    <a:pt x="0" y="0"/>
                  </a:moveTo>
                  <a:lnTo>
                    <a:pt x="1175530" y="0"/>
                  </a:lnTo>
                  <a:lnTo>
                    <a:pt x="1175530" y="2288683"/>
                  </a:lnTo>
                  <a:lnTo>
                    <a:pt x="0" y="228868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175530" cy="2326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6" id="16"/>
          <p:cNvSpPr/>
          <p:nvPr/>
        </p:nvSpPr>
        <p:spPr>
          <a:xfrm>
            <a:off x="10767060" y="1048651"/>
            <a:ext cx="64922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1028700" y="1760729"/>
            <a:ext cx="536349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144" strike="noStrike" u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MỤC TIÊU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473830" y="4510970"/>
            <a:ext cx="3314700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Xây dựng bản đồ cứu trợ trực quan (hiển thị điểm SOS)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635755" y="3516758"/>
            <a:ext cx="299378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BẢN ĐỒ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64415" y="4510970"/>
            <a:ext cx="3429000" cy="4939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Phá</a:t>
            </a:r>
            <a:r>
              <a:rPr lang="en-US" sz="2799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t triển phân hệ điều phối nhiệm vụ cho tình nguyện viên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Xây dựng phân  </a:t>
            </a:r>
            <a:r>
              <a:rPr lang="en-US" sz="2799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hệ đóng góp cho nhà tài trợ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Tạo không gian tương tác cộng đồng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26210" y="3516758"/>
            <a:ext cx="299378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PHÂN QUYỀN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854870" y="4510970"/>
            <a:ext cx="3314700" cy="295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Tích hợp trợ lý AI tra cứu thông tin khẩn cấp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Xây dựng mô-đun quản trị hệ thống chặt chẽ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018150" y="3516758"/>
            <a:ext cx="299378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TÍCH HỢP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401586"/>
            <a:ext cx="8049031" cy="1160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20"/>
              </a:lnSpc>
            </a:pPr>
            <a:r>
              <a:rPr lang="en-US" sz="6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TỔNG QUAN ĐỀ TÀI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5625" t="0" r="-26562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4400522" y="2638415"/>
            <a:ext cx="4463340" cy="405758"/>
          </a:xfrm>
          <a:custGeom>
            <a:avLst/>
            <a:gdLst/>
            <a:ahLst/>
            <a:cxnLst/>
            <a:rect r="r" b="b" t="t" l="l"/>
            <a:pathLst>
              <a:path h="405758" w="4463340">
                <a:moveTo>
                  <a:pt x="0" y="0"/>
                </a:moveTo>
                <a:lnTo>
                  <a:pt x="4463339" y="0"/>
                </a:lnTo>
                <a:lnTo>
                  <a:pt x="4463339" y="405758"/>
                </a:lnTo>
                <a:lnTo>
                  <a:pt x="0" y="4057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591050" y="2974727"/>
            <a:ext cx="4463340" cy="8689845"/>
            <a:chOff x="0" y="0"/>
            <a:chExt cx="1175530" cy="228868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5530" cy="2288683"/>
            </a:xfrm>
            <a:custGeom>
              <a:avLst/>
              <a:gdLst/>
              <a:ahLst/>
              <a:cxnLst/>
              <a:rect r="r" b="b" t="t" l="l"/>
              <a:pathLst>
                <a:path h="2288683" w="1175530">
                  <a:moveTo>
                    <a:pt x="0" y="0"/>
                  </a:moveTo>
                  <a:lnTo>
                    <a:pt x="1175530" y="0"/>
                  </a:lnTo>
                  <a:lnTo>
                    <a:pt x="1175530" y="2288683"/>
                  </a:lnTo>
                  <a:lnTo>
                    <a:pt x="0" y="228868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175530" cy="23458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2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10800000">
            <a:off x="8592173" y="2568969"/>
            <a:ext cx="4463340" cy="405758"/>
          </a:xfrm>
          <a:custGeom>
            <a:avLst/>
            <a:gdLst/>
            <a:ahLst/>
            <a:cxnLst/>
            <a:rect r="r" b="b" t="t" l="l"/>
            <a:pathLst>
              <a:path h="405758" w="4463340">
                <a:moveTo>
                  <a:pt x="0" y="0"/>
                </a:moveTo>
                <a:lnTo>
                  <a:pt x="4463340" y="0"/>
                </a:lnTo>
                <a:lnTo>
                  <a:pt x="4463340" y="405758"/>
                </a:lnTo>
                <a:lnTo>
                  <a:pt x="0" y="4057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182100" y="2974727"/>
            <a:ext cx="4463340" cy="8689845"/>
            <a:chOff x="0" y="0"/>
            <a:chExt cx="1175530" cy="22886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75530" cy="2288683"/>
            </a:xfrm>
            <a:custGeom>
              <a:avLst/>
              <a:gdLst/>
              <a:ahLst/>
              <a:cxnLst/>
              <a:rect r="r" b="b" t="t" l="l"/>
              <a:pathLst>
                <a:path h="2288683" w="1175530">
                  <a:moveTo>
                    <a:pt x="0" y="0"/>
                  </a:moveTo>
                  <a:lnTo>
                    <a:pt x="1175530" y="0"/>
                  </a:lnTo>
                  <a:lnTo>
                    <a:pt x="1175530" y="2288683"/>
                  </a:lnTo>
                  <a:lnTo>
                    <a:pt x="0" y="228868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175530" cy="23458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2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10800000">
            <a:off x="13284113" y="2568969"/>
            <a:ext cx="4463340" cy="405758"/>
          </a:xfrm>
          <a:custGeom>
            <a:avLst/>
            <a:gdLst/>
            <a:ahLst/>
            <a:cxnLst/>
            <a:rect r="r" b="b" t="t" l="l"/>
            <a:pathLst>
              <a:path h="405758" w="4463340">
                <a:moveTo>
                  <a:pt x="0" y="0"/>
                </a:moveTo>
                <a:lnTo>
                  <a:pt x="4463340" y="0"/>
                </a:lnTo>
                <a:lnTo>
                  <a:pt x="4463340" y="405758"/>
                </a:lnTo>
                <a:lnTo>
                  <a:pt x="0" y="4057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3778790" y="2974727"/>
            <a:ext cx="4463340" cy="8689845"/>
            <a:chOff x="0" y="0"/>
            <a:chExt cx="1175530" cy="228868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75530" cy="2288683"/>
            </a:xfrm>
            <a:custGeom>
              <a:avLst/>
              <a:gdLst/>
              <a:ahLst/>
              <a:cxnLst/>
              <a:rect r="r" b="b" t="t" l="l"/>
              <a:pathLst>
                <a:path h="2288683" w="1175530">
                  <a:moveTo>
                    <a:pt x="0" y="0"/>
                  </a:moveTo>
                  <a:lnTo>
                    <a:pt x="1175530" y="0"/>
                  </a:lnTo>
                  <a:lnTo>
                    <a:pt x="1175530" y="2288683"/>
                  </a:lnTo>
                  <a:lnTo>
                    <a:pt x="0" y="228868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175530" cy="23458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2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0767060" y="1048651"/>
            <a:ext cx="64922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1028700" y="1922894"/>
            <a:ext cx="7835161" cy="451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MÔ HÌNH QUẢN LÝ VÀ PHÂN QUYỀN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325830" y="5086350"/>
            <a:ext cx="2993780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Tiếp</a:t>
            </a:r>
            <a:r>
              <a:rPr lang="en-US" sz="300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nhận nhiệm vụ SOS và cập nhật </a:t>
            </a:r>
          </a:p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tiến độ xử lý</a:t>
            </a:r>
          </a:p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5325830" y="3260203"/>
            <a:ext cx="2993780" cy="1434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82"/>
              </a:lnSpc>
              <a:spcBef>
                <a:spcPct val="0"/>
              </a:spcBef>
            </a:pPr>
            <a:r>
              <a:rPr lang="en-US" b="true" sz="2772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TÌNH NGUYỆN VIÊN - VOLUNTEER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19700" y="5086350"/>
            <a:ext cx="2993780" cy="318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Tìm</a:t>
            </a:r>
            <a:r>
              <a:rPr lang="en-US" sz="300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 kiếm hoàn cảnh, gửi đề nghị giúp đỡ và </a:t>
            </a:r>
          </a:p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theo dõi đóng góp</a:t>
            </a:r>
          </a:p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9911640" y="3260203"/>
            <a:ext cx="2993780" cy="94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2"/>
              </a:lnSpc>
            </a:pPr>
            <a:r>
              <a:rPr lang="en-US" b="true" sz="2772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NHÀ TÀI TRỢ - </a:t>
            </a:r>
          </a:p>
          <a:p>
            <a:pPr algn="ctr">
              <a:lnSpc>
                <a:spcPts val="3882"/>
              </a:lnSpc>
              <a:spcBef>
                <a:spcPct val="0"/>
              </a:spcBef>
            </a:pPr>
            <a:r>
              <a:rPr lang="en-US" b="true" sz="2772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SPONSOR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513569" y="5086350"/>
            <a:ext cx="2993780" cy="318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Duyệt xá</a:t>
            </a:r>
            <a:r>
              <a:rPr lang="en-US" sz="300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c minh vai trò, kiểm duyệt nội dung </a:t>
            </a:r>
          </a:p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và vận hành hệ thống</a:t>
            </a:r>
          </a:p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4513569" y="3260203"/>
            <a:ext cx="2993780" cy="94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82"/>
              </a:lnSpc>
              <a:spcBef>
                <a:spcPct val="0"/>
              </a:spcBef>
            </a:pPr>
            <a:r>
              <a:rPr lang="en-US" b="true" sz="2772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QUẢN TRỊ VIÊN - ADMIN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-10800000">
            <a:off x="-5640" y="2641460"/>
            <a:ext cx="4463340" cy="405758"/>
          </a:xfrm>
          <a:custGeom>
            <a:avLst/>
            <a:gdLst/>
            <a:ahLst/>
            <a:cxnLst/>
            <a:rect r="r" b="b" t="t" l="l"/>
            <a:pathLst>
              <a:path h="405758" w="4463340">
                <a:moveTo>
                  <a:pt x="0" y="0"/>
                </a:moveTo>
                <a:lnTo>
                  <a:pt x="4463340" y="0"/>
                </a:lnTo>
                <a:lnTo>
                  <a:pt x="4463340" y="405758"/>
                </a:lnTo>
                <a:lnTo>
                  <a:pt x="0" y="4057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3885" y="2974727"/>
            <a:ext cx="4463340" cy="8689845"/>
            <a:chOff x="0" y="0"/>
            <a:chExt cx="1175530" cy="228868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75530" cy="2288683"/>
            </a:xfrm>
            <a:custGeom>
              <a:avLst/>
              <a:gdLst/>
              <a:ahLst/>
              <a:cxnLst/>
              <a:rect r="r" b="b" t="t" l="l"/>
              <a:pathLst>
                <a:path h="2288683" w="1175530">
                  <a:moveTo>
                    <a:pt x="0" y="0"/>
                  </a:moveTo>
                  <a:lnTo>
                    <a:pt x="1175530" y="0"/>
                  </a:lnTo>
                  <a:lnTo>
                    <a:pt x="1175530" y="2288683"/>
                  </a:lnTo>
                  <a:lnTo>
                    <a:pt x="0" y="228868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175530" cy="23458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2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07195" y="5086350"/>
            <a:ext cx="299378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Tạo SOS, mô tả tình trạng, cập nhật an toàn</a:t>
            </a:r>
          </a:p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907195" y="3260203"/>
            <a:ext cx="2993780" cy="1434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82"/>
              </a:lnSpc>
              <a:spcBef>
                <a:spcPct val="0"/>
              </a:spcBef>
            </a:pPr>
            <a:r>
              <a:rPr lang="en-US" b="true" sz="2772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NGƯỜI CẦN HỖ TRỢ - PEOPLE IN NEED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0" y="401586"/>
            <a:ext cx="8049031" cy="1160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20"/>
              </a:lnSpc>
            </a:pPr>
            <a:r>
              <a:rPr lang="en-US" sz="6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TỔNG QUAN ĐỀ TÀI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5A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742511"/>
            <a:ext cx="18288000" cy="1662545"/>
          </a:xfrm>
          <a:custGeom>
            <a:avLst/>
            <a:gdLst/>
            <a:ahLst/>
            <a:cxnLst/>
            <a:rect r="r" b="b" t="t" l="l"/>
            <a:pathLst>
              <a:path h="1662545" w="18288000">
                <a:moveTo>
                  <a:pt x="0" y="0"/>
                </a:moveTo>
                <a:lnTo>
                  <a:pt x="18288000" y="0"/>
                </a:lnTo>
                <a:lnTo>
                  <a:pt x="18288000" y="1662545"/>
                </a:lnTo>
                <a:lnTo>
                  <a:pt x="0" y="16625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20876" y="-647485"/>
            <a:ext cx="19691459" cy="3786298"/>
            <a:chOff x="0" y="0"/>
            <a:chExt cx="5186228" cy="9972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86228" cy="997214"/>
            </a:xfrm>
            <a:custGeom>
              <a:avLst/>
              <a:gdLst/>
              <a:ahLst/>
              <a:cxnLst/>
              <a:rect r="r" b="b" t="t" l="l"/>
              <a:pathLst>
                <a:path h="997214" w="5186228">
                  <a:moveTo>
                    <a:pt x="0" y="0"/>
                  </a:moveTo>
                  <a:lnTo>
                    <a:pt x="5186228" y="0"/>
                  </a:lnTo>
                  <a:lnTo>
                    <a:pt x="5186228" y="997214"/>
                  </a:lnTo>
                  <a:lnTo>
                    <a:pt x="0" y="9972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186228" cy="1035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4057" y="3926415"/>
            <a:ext cx="9655682" cy="4985906"/>
            <a:chOff x="0" y="0"/>
            <a:chExt cx="1456115" cy="7518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56115" cy="751895"/>
            </a:xfrm>
            <a:custGeom>
              <a:avLst/>
              <a:gdLst/>
              <a:ahLst/>
              <a:cxnLst/>
              <a:rect r="r" b="b" t="t" l="l"/>
              <a:pathLst>
                <a:path h="751895" w="1456115">
                  <a:moveTo>
                    <a:pt x="0" y="0"/>
                  </a:moveTo>
                  <a:lnTo>
                    <a:pt x="1456115" y="0"/>
                  </a:lnTo>
                  <a:lnTo>
                    <a:pt x="1456115" y="751895"/>
                  </a:lnTo>
                  <a:lnTo>
                    <a:pt x="0" y="751895"/>
                  </a:lnTo>
                  <a:close/>
                </a:path>
              </a:pathLst>
            </a:custGeom>
            <a:blipFill>
              <a:blip r:embed="rId3"/>
              <a:stretch>
                <a:fillRect l="0" t="-5192" r="0" b="-519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158432" y="0"/>
            <a:ext cx="5657850" cy="565785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33450" cap="sq">
              <a:gradFill>
                <a:gsLst>
                  <a:gs pos="0">
                    <a:srgbClr val="0078A8">
                      <a:alpha val="0"/>
                    </a:srgbClr>
                  </a:gs>
                  <a:gs pos="100000">
                    <a:srgbClr val="036E99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02581" y="4912344"/>
            <a:ext cx="6784776" cy="3180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51"/>
              </a:lnSpc>
              <a:spcBef>
                <a:spcPct val="0"/>
              </a:spcBef>
            </a:pPr>
            <a:r>
              <a:rPr lang="en-US" sz="3036" i="true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Đồ án áp dụng phương pháp phát triển phần mềm theo quy trình: Khảo sát yêu cầu → Phân tích nghiệp vụ → Thiết kế hệ thống → Triển khai lập trình → Kiểm thử (chức năng, hiệu năng, bảo mật) → Đánh giá và hoàn thiện sản phẩm.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895350"/>
            <a:ext cx="12211976" cy="1178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19"/>
              </a:lnSpc>
            </a:pPr>
            <a:r>
              <a:rPr lang="en-US" sz="687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PHƯƠNG PHÁP NGHIÊN CỨU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5A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748928" y="6134794"/>
            <a:ext cx="15039463" cy="4323846"/>
          </a:xfrm>
          <a:custGeom>
            <a:avLst/>
            <a:gdLst/>
            <a:ahLst/>
            <a:cxnLst/>
            <a:rect r="r" b="b" t="t" l="l"/>
            <a:pathLst>
              <a:path h="4323846" w="15039463">
                <a:moveTo>
                  <a:pt x="0" y="0"/>
                </a:moveTo>
                <a:lnTo>
                  <a:pt x="15039463" y="0"/>
                </a:lnTo>
                <a:lnTo>
                  <a:pt x="15039463" y="4323846"/>
                </a:lnTo>
                <a:lnTo>
                  <a:pt x="0" y="43238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422756"/>
            <a:ext cx="3484206" cy="2016190"/>
            <a:chOff x="0" y="0"/>
            <a:chExt cx="1404611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04611" cy="812800"/>
            </a:xfrm>
            <a:custGeom>
              <a:avLst/>
              <a:gdLst/>
              <a:ahLst/>
              <a:cxnLst/>
              <a:rect r="r" b="b" t="t" l="l"/>
              <a:pathLst>
                <a:path h="812800" w="1404611">
                  <a:moveTo>
                    <a:pt x="702306" y="0"/>
                  </a:moveTo>
                  <a:cubicBezTo>
                    <a:pt x="314433" y="0"/>
                    <a:pt x="0" y="181951"/>
                    <a:pt x="0" y="406400"/>
                  </a:cubicBezTo>
                  <a:cubicBezTo>
                    <a:pt x="0" y="630849"/>
                    <a:pt x="314433" y="812800"/>
                    <a:pt x="702306" y="812800"/>
                  </a:cubicBezTo>
                  <a:cubicBezTo>
                    <a:pt x="1090178" y="812800"/>
                    <a:pt x="1404611" y="630849"/>
                    <a:pt x="1404611" y="406400"/>
                  </a:cubicBezTo>
                  <a:cubicBezTo>
                    <a:pt x="1404611" y="181951"/>
                    <a:pt x="1090178" y="0"/>
                    <a:pt x="702306" y="0"/>
                  </a:cubicBezTo>
                  <a:close/>
                </a:path>
              </a:pathLst>
            </a:custGeom>
            <a:solidFill>
              <a:srgbClr val="E7F2E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31682" y="19050"/>
              <a:ext cx="1141247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39"/>
                </a:lnSpc>
              </a:pPr>
              <a:r>
                <a:rPr lang="en-US" sz="267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Bản đồ cứu trợ SOS</a:t>
              </a:r>
            </a:p>
          </p:txBody>
        </p:sp>
      </p:grpSp>
      <p:sp>
        <p:nvSpPr>
          <p:cNvPr name="AutoShape 6" id="6"/>
          <p:cNvSpPr/>
          <p:nvPr/>
        </p:nvSpPr>
        <p:spPr>
          <a:xfrm>
            <a:off x="4139777" y="2057551"/>
            <a:ext cx="2034238" cy="2853969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028700" y="2666730"/>
            <a:ext cx="3484206" cy="2016190"/>
            <a:chOff x="0" y="0"/>
            <a:chExt cx="1404611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04611" cy="812800"/>
            </a:xfrm>
            <a:custGeom>
              <a:avLst/>
              <a:gdLst/>
              <a:ahLst/>
              <a:cxnLst/>
              <a:rect r="r" b="b" t="t" l="l"/>
              <a:pathLst>
                <a:path h="812800" w="1404611">
                  <a:moveTo>
                    <a:pt x="702306" y="0"/>
                  </a:moveTo>
                  <a:cubicBezTo>
                    <a:pt x="314433" y="0"/>
                    <a:pt x="0" y="181951"/>
                    <a:pt x="0" y="406400"/>
                  </a:cubicBezTo>
                  <a:cubicBezTo>
                    <a:pt x="0" y="630849"/>
                    <a:pt x="314433" y="812800"/>
                    <a:pt x="702306" y="812800"/>
                  </a:cubicBezTo>
                  <a:cubicBezTo>
                    <a:pt x="1090178" y="812800"/>
                    <a:pt x="1404611" y="630849"/>
                    <a:pt x="1404611" y="406400"/>
                  </a:cubicBezTo>
                  <a:cubicBezTo>
                    <a:pt x="1404611" y="181951"/>
                    <a:pt x="1090178" y="0"/>
                    <a:pt x="702306" y="0"/>
                  </a:cubicBezTo>
                  <a:close/>
                </a:path>
              </a:pathLst>
            </a:custGeom>
            <a:solidFill>
              <a:srgbClr val="1AF6F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31682" y="19050"/>
              <a:ext cx="1141247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39"/>
                </a:lnSpc>
              </a:pPr>
              <a:r>
                <a:rPr lang="en-US" sz="267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Đăng bài cộng đồng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4911520"/>
            <a:ext cx="3484206" cy="2016190"/>
            <a:chOff x="0" y="0"/>
            <a:chExt cx="1404611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04611" cy="812800"/>
            </a:xfrm>
            <a:custGeom>
              <a:avLst/>
              <a:gdLst/>
              <a:ahLst/>
              <a:cxnLst/>
              <a:rect r="r" b="b" t="t" l="l"/>
              <a:pathLst>
                <a:path h="812800" w="1404611">
                  <a:moveTo>
                    <a:pt x="702306" y="0"/>
                  </a:moveTo>
                  <a:cubicBezTo>
                    <a:pt x="314433" y="0"/>
                    <a:pt x="0" y="181951"/>
                    <a:pt x="0" y="406400"/>
                  </a:cubicBezTo>
                  <a:cubicBezTo>
                    <a:pt x="0" y="630849"/>
                    <a:pt x="314433" y="812800"/>
                    <a:pt x="702306" y="812800"/>
                  </a:cubicBezTo>
                  <a:cubicBezTo>
                    <a:pt x="1090178" y="812800"/>
                    <a:pt x="1404611" y="630849"/>
                    <a:pt x="1404611" y="406400"/>
                  </a:cubicBezTo>
                  <a:cubicBezTo>
                    <a:pt x="1404611" y="181951"/>
                    <a:pt x="1090178" y="0"/>
                    <a:pt x="702306" y="0"/>
                  </a:cubicBezTo>
                  <a:close/>
                </a:path>
              </a:pathLst>
            </a:custGeom>
            <a:solidFill>
              <a:srgbClr val="8C52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31682" y="19050"/>
              <a:ext cx="1141247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39"/>
                </a:lnSpc>
              </a:pPr>
              <a:r>
                <a:rPr lang="en-US" sz="2671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Chatbot AI hỗ trợ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7156309"/>
            <a:ext cx="3484206" cy="2016190"/>
            <a:chOff x="0" y="0"/>
            <a:chExt cx="1404611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04611" cy="812800"/>
            </a:xfrm>
            <a:custGeom>
              <a:avLst/>
              <a:gdLst/>
              <a:ahLst/>
              <a:cxnLst/>
              <a:rect r="r" b="b" t="t" l="l"/>
              <a:pathLst>
                <a:path h="812800" w="1404611">
                  <a:moveTo>
                    <a:pt x="702306" y="0"/>
                  </a:moveTo>
                  <a:cubicBezTo>
                    <a:pt x="314433" y="0"/>
                    <a:pt x="0" y="181951"/>
                    <a:pt x="0" y="406400"/>
                  </a:cubicBezTo>
                  <a:cubicBezTo>
                    <a:pt x="0" y="630849"/>
                    <a:pt x="314433" y="812800"/>
                    <a:pt x="702306" y="812800"/>
                  </a:cubicBezTo>
                  <a:cubicBezTo>
                    <a:pt x="1090178" y="812800"/>
                    <a:pt x="1404611" y="630849"/>
                    <a:pt x="1404611" y="406400"/>
                  </a:cubicBezTo>
                  <a:cubicBezTo>
                    <a:pt x="1404611" y="181951"/>
                    <a:pt x="1090178" y="0"/>
                    <a:pt x="702306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31682" y="19050"/>
              <a:ext cx="1141247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39"/>
                </a:lnSpc>
              </a:pPr>
              <a:r>
                <a:rPr lang="en-US" sz="267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Nhắn tin realtime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4477981" y="3804941"/>
            <a:ext cx="1696034" cy="1106579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V="true">
            <a:off x="4477981" y="4911520"/>
            <a:ext cx="1696034" cy="94143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4515560" y="4911520"/>
            <a:ext cx="1658455" cy="3271414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3775094" y="422756"/>
            <a:ext cx="3484206" cy="2016190"/>
            <a:chOff x="0" y="0"/>
            <a:chExt cx="1404611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04611" cy="812800"/>
            </a:xfrm>
            <a:custGeom>
              <a:avLst/>
              <a:gdLst/>
              <a:ahLst/>
              <a:cxnLst/>
              <a:rect r="r" b="b" t="t" l="l"/>
              <a:pathLst>
                <a:path h="812800" w="1404611">
                  <a:moveTo>
                    <a:pt x="702306" y="0"/>
                  </a:moveTo>
                  <a:cubicBezTo>
                    <a:pt x="314433" y="0"/>
                    <a:pt x="0" y="181951"/>
                    <a:pt x="0" y="406400"/>
                  </a:cubicBezTo>
                  <a:cubicBezTo>
                    <a:pt x="0" y="630849"/>
                    <a:pt x="314433" y="812800"/>
                    <a:pt x="702306" y="812800"/>
                  </a:cubicBezTo>
                  <a:cubicBezTo>
                    <a:pt x="1090178" y="812800"/>
                    <a:pt x="1404611" y="630849"/>
                    <a:pt x="1404611" y="406400"/>
                  </a:cubicBezTo>
                  <a:cubicBezTo>
                    <a:pt x="1404611" y="181951"/>
                    <a:pt x="1090178" y="0"/>
                    <a:pt x="702306" y="0"/>
                  </a:cubicBezTo>
                  <a:close/>
                </a:path>
              </a:pathLst>
            </a:custGeom>
            <a:solidFill>
              <a:srgbClr val="F8535E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31682" y="19050"/>
              <a:ext cx="1141247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39"/>
                </a:lnSpc>
              </a:pPr>
              <a:r>
                <a:rPr lang="en-US" sz="2671">
                  <a:solidFill>
                    <a:srgbClr val="E7F2ED"/>
                  </a:solidFill>
                  <a:latin typeface="Open Sans"/>
                  <a:ea typeface="Open Sans"/>
                  <a:cs typeface="Open Sans"/>
                  <a:sym typeface="Open Sans"/>
                </a:rPr>
                <a:t>Thông báo hệ thống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775094" y="2666730"/>
            <a:ext cx="3484206" cy="2016190"/>
            <a:chOff x="0" y="0"/>
            <a:chExt cx="1404611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04611" cy="812800"/>
            </a:xfrm>
            <a:custGeom>
              <a:avLst/>
              <a:gdLst/>
              <a:ahLst/>
              <a:cxnLst/>
              <a:rect r="r" b="b" t="t" l="l"/>
              <a:pathLst>
                <a:path h="812800" w="1404611">
                  <a:moveTo>
                    <a:pt x="702306" y="0"/>
                  </a:moveTo>
                  <a:cubicBezTo>
                    <a:pt x="314433" y="0"/>
                    <a:pt x="0" y="181951"/>
                    <a:pt x="0" y="406400"/>
                  </a:cubicBezTo>
                  <a:cubicBezTo>
                    <a:pt x="0" y="630849"/>
                    <a:pt x="314433" y="812800"/>
                    <a:pt x="702306" y="812800"/>
                  </a:cubicBezTo>
                  <a:cubicBezTo>
                    <a:pt x="1090178" y="812800"/>
                    <a:pt x="1404611" y="630849"/>
                    <a:pt x="1404611" y="406400"/>
                  </a:cubicBezTo>
                  <a:cubicBezTo>
                    <a:pt x="1404611" y="181951"/>
                    <a:pt x="1090178" y="0"/>
                    <a:pt x="702306" y="0"/>
                  </a:cubicBezTo>
                  <a:close/>
                </a:path>
              </a:pathLst>
            </a:custGeom>
            <a:solidFill>
              <a:srgbClr val="FF66C4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31682" y="19050"/>
              <a:ext cx="1141247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39"/>
                </a:lnSpc>
              </a:pPr>
              <a:r>
                <a:rPr lang="en-US" sz="2671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Quản lý vật phẩm cứu trợ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771335" y="4911520"/>
            <a:ext cx="3484206" cy="2016190"/>
            <a:chOff x="0" y="0"/>
            <a:chExt cx="1404611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04611" cy="812800"/>
            </a:xfrm>
            <a:custGeom>
              <a:avLst/>
              <a:gdLst/>
              <a:ahLst/>
              <a:cxnLst/>
              <a:rect r="r" b="b" t="t" l="l"/>
              <a:pathLst>
                <a:path h="812800" w="1404611">
                  <a:moveTo>
                    <a:pt x="702306" y="0"/>
                  </a:moveTo>
                  <a:cubicBezTo>
                    <a:pt x="314433" y="0"/>
                    <a:pt x="0" y="181951"/>
                    <a:pt x="0" y="406400"/>
                  </a:cubicBezTo>
                  <a:cubicBezTo>
                    <a:pt x="0" y="630849"/>
                    <a:pt x="314433" y="812800"/>
                    <a:pt x="702306" y="812800"/>
                  </a:cubicBezTo>
                  <a:cubicBezTo>
                    <a:pt x="1090178" y="812800"/>
                    <a:pt x="1404611" y="630849"/>
                    <a:pt x="1404611" y="406400"/>
                  </a:cubicBezTo>
                  <a:cubicBezTo>
                    <a:pt x="1404611" y="181951"/>
                    <a:pt x="1090178" y="0"/>
                    <a:pt x="70230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9D957">
                    <a:alpha val="100000"/>
                  </a:srgbClr>
                </a:gs>
                <a:gs pos="100000">
                  <a:srgbClr val="C9E265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131682" y="19050"/>
              <a:ext cx="1141247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39"/>
                </a:lnSpc>
              </a:pPr>
              <a:r>
                <a:rPr lang="en-US" sz="267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Quyên góp trực tuyến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771335" y="7156309"/>
            <a:ext cx="3484206" cy="2016190"/>
            <a:chOff x="0" y="0"/>
            <a:chExt cx="1404611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04611" cy="812800"/>
            </a:xfrm>
            <a:custGeom>
              <a:avLst/>
              <a:gdLst/>
              <a:ahLst/>
              <a:cxnLst/>
              <a:rect r="r" b="b" t="t" l="l"/>
              <a:pathLst>
                <a:path h="812800" w="1404611">
                  <a:moveTo>
                    <a:pt x="702306" y="0"/>
                  </a:moveTo>
                  <a:cubicBezTo>
                    <a:pt x="314433" y="0"/>
                    <a:pt x="0" y="181951"/>
                    <a:pt x="0" y="406400"/>
                  </a:cubicBezTo>
                  <a:cubicBezTo>
                    <a:pt x="0" y="630849"/>
                    <a:pt x="314433" y="812800"/>
                    <a:pt x="702306" y="812800"/>
                  </a:cubicBezTo>
                  <a:cubicBezTo>
                    <a:pt x="1090178" y="812800"/>
                    <a:pt x="1404611" y="630849"/>
                    <a:pt x="1404611" y="406400"/>
                  </a:cubicBezTo>
                  <a:cubicBezTo>
                    <a:pt x="1404611" y="181951"/>
                    <a:pt x="1090178" y="0"/>
                    <a:pt x="70230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0" id="30"/>
            <p:cNvSpPr txBox="true"/>
            <p:nvPr/>
          </p:nvSpPr>
          <p:spPr>
            <a:xfrm>
              <a:off x="131682" y="19050"/>
              <a:ext cx="1141247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39"/>
                </a:lnSpc>
              </a:pPr>
              <a:r>
                <a:rPr lang="en-US" sz="267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Phân quyền người dùng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 flipV="true">
            <a:off x="12113985" y="1849472"/>
            <a:ext cx="1817949" cy="306204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H="true">
            <a:off x="12113985" y="3674825"/>
            <a:ext cx="1661109" cy="1236695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H="true" flipV="true">
            <a:off x="12113985" y="4911520"/>
            <a:ext cx="1702200" cy="1223275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flipH="true" flipV="true">
            <a:off x="12113985" y="4911520"/>
            <a:ext cx="1657350" cy="3252885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5" id="35"/>
          <p:cNvSpPr/>
          <p:nvPr/>
        </p:nvSpPr>
        <p:spPr>
          <a:xfrm flipH="false" flipV="false" rot="0">
            <a:off x="6634737" y="2634237"/>
            <a:ext cx="5018526" cy="5018526"/>
          </a:xfrm>
          <a:custGeom>
            <a:avLst/>
            <a:gdLst/>
            <a:ahLst/>
            <a:cxnLst/>
            <a:rect r="r" b="b" t="t" l="l"/>
            <a:pathLst>
              <a:path h="5018526" w="5018526">
                <a:moveTo>
                  <a:pt x="0" y="0"/>
                </a:moveTo>
                <a:lnTo>
                  <a:pt x="5018526" y="0"/>
                </a:lnTo>
                <a:lnTo>
                  <a:pt x="5018526" y="5018526"/>
                </a:lnTo>
                <a:lnTo>
                  <a:pt x="0" y="50185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5A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742511"/>
            <a:ext cx="18288000" cy="1662545"/>
          </a:xfrm>
          <a:custGeom>
            <a:avLst/>
            <a:gdLst/>
            <a:ahLst/>
            <a:cxnLst/>
            <a:rect r="r" b="b" t="t" l="l"/>
            <a:pathLst>
              <a:path h="1662545" w="18288000">
                <a:moveTo>
                  <a:pt x="0" y="0"/>
                </a:moveTo>
                <a:lnTo>
                  <a:pt x="18288000" y="0"/>
                </a:lnTo>
                <a:lnTo>
                  <a:pt x="18288000" y="1662545"/>
                </a:lnTo>
                <a:lnTo>
                  <a:pt x="0" y="16625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38308" y="-788403"/>
            <a:ext cx="19691459" cy="3786298"/>
            <a:chOff x="0" y="0"/>
            <a:chExt cx="5186228" cy="9972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86228" cy="997214"/>
            </a:xfrm>
            <a:custGeom>
              <a:avLst/>
              <a:gdLst/>
              <a:ahLst/>
              <a:cxnLst/>
              <a:rect r="r" b="b" t="t" l="l"/>
              <a:pathLst>
                <a:path h="997214" w="5186228">
                  <a:moveTo>
                    <a:pt x="0" y="0"/>
                  </a:moveTo>
                  <a:lnTo>
                    <a:pt x="5186228" y="0"/>
                  </a:lnTo>
                  <a:lnTo>
                    <a:pt x="5186228" y="997214"/>
                  </a:lnTo>
                  <a:lnTo>
                    <a:pt x="0" y="9972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186228" cy="1035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54638" y="7199033"/>
            <a:ext cx="18724119" cy="3087967"/>
            <a:chOff x="0" y="0"/>
            <a:chExt cx="2900856" cy="4784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00856" cy="478407"/>
            </a:xfrm>
            <a:custGeom>
              <a:avLst/>
              <a:gdLst/>
              <a:ahLst/>
              <a:cxnLst/>
              <a:rect r="r" b="b" t="t" l="l"/>
              <a:pathLst>
                <a:path h="478407" w="2900856">
                  <a:moveTo>
                    <a:pt x="0" y="0"/>
                  </a:moveTo>
                  <a:lnTo>
                    <a:pt x="2900856" y="0"/>
                  </a:lnTo>
                  <a:lnTo>
                    <a:pt x="2900856" y="478407"/>
                  </a:lnTo>
                  <a:lnTo>
                    <a:pt x="0" y="478407"/>
                  </a:lnTo>
                  <a:close/>
                </a:path>
              </a:pathLst>
            </a:custGeom>
            <a:blipFill>
              <a:blip r:embed="rId3"/>
              <a:stretch>
                <a:fillRect l="0" t="-122811" r="0" b="-122811"/>
              </a:stretch>
            </a:blipFill>
          </p:spPr>
        </p:sp>
      </p:grpSp>
      <p:sp>
        <p:nvSpPr>
          <p:cNvPr name="AutoShape 8" id="8"/>
          <p:cNvSpPr/>
          <p:nvPr/>
        </p:nvSpPr>
        <p:spPr>
          <a:xfrm>
            <a:off x="10767060" y="1512825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28700" y="876260"/>
            <a:ext cx="8009110" cy="1178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19"/>
              </a:lnSpc>
            </a:pPr>
            <a:r>
              <a:rPr lang="en-US" sz="6870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CƠ SỞ LÝ THUYẾT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07424" y="3374627"/>
            <a:ext cx="13311565" cy="161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01"/>
              </a:lnSpc>
              <a:spcBef>
                <a:spcPct val="0"/>
              </a:spcBef>
            </a:pPr>
            <a:r>
              <a:rPr lang="en-US" b="true" sz="3072" i="true">
                <a:solidFill>
                  <a:srgbClr val="FFFFFF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Chương này trình bày nền tảng lý thuyết và công nghệ được áp dụng trong hệ thống ReliefConnect, bao gồm ý tưởng thiết kế "map-first" và các thuật toán xử lý dữ liệu không gian.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07424" y="5158244"/>
            <a:ext cx="12660773" cy="1617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02"/>
              </a:lnSpc>
              <a:spcBef>
                <a:spcPct val="0"/>
              </a:spcBef>
            </a:pPr>
            <a:r>
              <a:rPr lang="en-US" sz="307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Các thuật toán chính: PostGIS (ST_DWithin) cho truy vấn không gian, Debounce &amp; Cache tối ưu hiệu suất, Rate Limiting bảo vệ API, HMAC-SHA256 xác thực bảo mật thanh toán,...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225A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028700" y="1479979"/>
          <a:ext cx="16248009" cy="8397471"/>
        </p:xfrm>
        <a:graphic>
          <a:graphicData uri="http://schemas.openxmlformats.org/drawingml/2006/table">
            <a:tbl>
              <a:tblPr/>
              <a:tblGrid>
                <a:gridCol w="3563324"/>
                <a:gridCol w="5111015"/>
                <a:gridCol w="7573671"/>
              </a:tblGrid>
              <a:tr h="82546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Cơ chế bảo mật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EE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Cơ chế bảo mật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EE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Mô tả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EE2"/>
                    </a:solidFill>
                  </a:tcPr>
                </a:tc>
              </a:tr>
              <a:tr h="16074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Xác thực &amp; phân quyền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JWT Bearer + Policy-based Auth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359"/>
                        </a:lnSpc>
                        <a:defRPr/>
                      </a:pPr>
                      <a:r>
                        <a:rPr lang="en-US" sz="2400" spc="-1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Token JWT cấp sau đăng nhập, </a:t>
                      </a:r>
                      <a:r>
                        <a:rPr lang="en-US" sz="2400" spc="-1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xác thực stateless. Policy RequireVerified kiểm tra cả vai trò lẫn trạng thái xác minh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48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Token Blacklist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Blacklist jti trong DB + Memory Cache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359"/>
                        </a:lnSpc>
                        <a:defRPr/>
                      </a:pPr>
                      <a:r>
                        <a:rPr lang="en-US" sz="2400" spc="-1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Đảm bảo logout thật sự: token </a:t>
                      </a:r>
                      <a:r>
                        <a:rPr lang="en-US" sz="2400" spc="-1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bị thu hồi được lưu vào blacklist, 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735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Rate Limiting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PostgreSQL + RateLimitCounters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288"/>
                        </a:lnSpc>
                        <a:defRPr/>
                      </a:pPr>
                      <a:r>
                        <a:rPr lang="en-US" sz="2400" spc="-1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Giới hạn tần suất theo IP/endpoint/user.</a:t>
                      </a:r>
                      <a:endParaRPr lang="en-US" sz="1100"/>
                    </a:p>
                    <a:p>
                      <a:pPr algn="just">
                        <a:lnSpc>
                          <a:spcPts val="3288"/>
                        </a:lnSpc>
                      </a:pPr>
                      <a:r>
                        <a:rPr lang="en-US" sz="2400" spc="-1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Không dùng memory cục bộ, hỗ trợ triển khai nhiều instance  </a:t>
                      </a:r>
                    </a:p>
                  </a:txBody>
                  <a:tcPr marL="114300" marR="114300" marT="114300" marB="1143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074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Anti-Spam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Ngưỡng động tác theo cửa sổ thời gian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Đếm post/comment/ping/message trong N giây, cảnh báo khi gần ngưỡng và tạm khóa khi vượt ngưỡng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48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Lọc nội dung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HtmlSanitizer</a:t>
                      </a:r>
                      <a:endParaRPr lang="en-US" sz="1100"/>
                    </a:p>
                    <a:p>
                      <a:pPr algn="ctr">
                        <a:lnSpc>
                          <a:spcPts val="3359"/>
                        </a:lnSpc>
                      </a:pPr>
                    </a:p>
                  </a:txBody>
                  <a:tcPr marL="114300" marR="114300" marT="114300" marB="1143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Loại bỏ script, sự kiện inline, các thẻ nguy hiểm trong nội dung người dùng nhập, ngăn chặn XSS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5119485" y="281099"/>
            <a:ext cx="8049031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19"/>
              </a:lnSpc>
            </a:pPr>
            <a:r>
              <a:rPr lang="en-US" sz="4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MÔ HÌNH BẢO MẬT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225A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028700" y="2333855"/>
          <a:ext cx="16230600" cy="6612463"/>
        </p:xfrm>
        <a:graphic>
          <a:graphicData uri="http://schemas.openxmlformats.org/drawingml/2006/table">
            <a:tbl>
              <a:tblPr/>
              <a:tblGrid>
                <a:gridCol w="3557742"/>
                <a:gridCol w="5093423"/>
                <a:gridCol w="7579436"/>
              </a:tblGrid>
              <a:tr h="176027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Kiểm tra đầu vào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 spc="-1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DataAnnotations + FluentValidation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 spc="-1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Validate model phía server, kiểm tra lãnh thỗ VN bằng Ray-casting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6027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Sercurity Headers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Midlewave tùy chỉnh trong pipeline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 spc="-1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Cấu hình X-Content-Type-Options, X-Frame-Options, Content-Security - Policy, Referrer-Policy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3164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Whitelist origin Frontend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88"/>
                        </a:lnSpc>
                        <a:defRPr/>
                      </a:pPr>
                      <a:r>
                        <a:rPr lang="en-US" sz="2400" spc="-1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Chỉ cho phép origin Fronted đã cấu hình trong Appsetting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6027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Mã hóa thông tin nhạy cảm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API Key encryption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Lưu dạng mã hóa Gemini API key trong bảng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028700" y="1474032"/>
          <a:ext cx="16248009" cy="859823"/>
        </p:xfrm>
        <a:graphic>
          <a:graphicData uri="http://schemas.openxmlformats.org/drawingml/2006/table">
            <a:tbl>
              <a:tblPr/>
              <a:tblGrid>
                <a:gridCol w="3563324"/>
                <a:gridCol w="5111015"/>
                <a:gridCol w="7573671"/>
              </a:tblGrid>
              <a:tr h="7693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Cơ chế bảo mật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EE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Cơ chế bảo mật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EE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Mô tả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EE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5A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9839" y="-1258132"/>
            <a:ext cx="20112161" cy="12360500"/>
            <a:chOff x="0" y="0"/>
            <a:chExt cx="5297030" cy="32554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97030" cy="3255440"/>
            </a:xfrm>
            <a:custGeom>
              <a:avLst/>
              <a:gdLst/>
              <a:ahLst/>
              <a:cxnLst/>
              <a:rect r="r" b="b" t="t" l="l"/>
              <a:pathLst>
                <a:path h="3255440" w="5297030">
                  <a:moveTo>
                    <a:pt x="0" y="0"/>
                  </a:moveTo>
                  <a:lnTo>
                    <a:pt x="5297030" y="0"/>
                  </a:lnTo>
                  <a:lnTo>
                    <a:pt x="5297030" y="3255440"/>
                  </a:lnTo>
                  <a:lnTo>
                    <a:pt x="0" y="32554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97030" cy="32935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0" y="7360625"/>
            <a:ext cx="18288000" cy="2926375"/>
          </a:xfrm>
          <a:custGeom>
            <a:avLst/>
            <a:gdLst/>
            <a:ahLst/>
            <a:cxnLst/>
            <a:rect r="r" b="b" t="t" l="l"/>
            <a:pathLst>
              <a:path h="2926375" w="18288000">
                <a:moveTo>
                  <a:pt x="18288000" y="0"/>
                </a:moveTo>
                <a:lnTo>
                  <a:pt x="0" y="0"/>
                </a:lnTo>
                <a:lnTo>
                  <a:pt x="0" y="2926375"/>
                </a:lnTo>
                <a:lnTo>
                  <a:pt x="18288000" y="2926375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7280" t="-313964" r="0" b="-256469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10767060" y="1047750"/>
            <a:ext cx="64922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6896591" y="353060"/>
            <a:ext cx="5126521" cy="1160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20"/>
              </a:lnSpc>
            </a:pPr>
            <a:r>
              <a:rPr lang="en-US" sz="6800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CÔNG NGHỆ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22114" y="2907263"/>
            <a:ext cx="7031293" cy="295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ASP.NET Core: Framework API mạnh mẽ, bảo mật cao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EF Core + PostgreSQL: ORM và CSDL không gian PostGIS.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SignalR: Realtime notifications.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Hangfire: Background jobs scheduling.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296241" y="2025200"/>
            <a:ext cx="3283039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BACKEND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907263"/>
            <a:ext cx="7515151" cy="246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React + TypeScript: Xây dựng giao diện người dùng hiện đại, component-based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Zustand: Quản lý state đơn giản, hiệu quả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Leaflet: Hiển thị bản đồ tương tác, định vị SOS realtime.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90641" y="2025200"/>
            <a:ext cx="3283039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1A21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FRONTEND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02480" y="7766038"/>
            <a:ext cx="3283039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gradFill>
                  <a:gsLst>
                    <a:gs pos="0">
                      <a:srgbClr val="9358F7">
                        <a:alpha val="100000"/>
                      </a:srgbClr>
                    </a:gs>
                    <a:gs pos="50000">
                      <a:srgbClr val="6197EE">
                        <a:alpha val="100000"/>
                      </a:srgbClr>
                    </a:gs>
                    <a:gs pos="100000">
                      <a:srgbClr val="0079D1">
                        <a:alpha val="100000"/>
                      </a:srgbClr>
                    </a:gs>
                  </a:gsLst>
                  <a:lin ang="1890000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DATABASE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01040" y="8646783"/>
            <a:ext cx="968592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Pos</a:t>
            </a:r>
            <a:r>
              <a:rPr lang="en-US" sz="2799">
                <a:solidFill>
                  <a:srgbClr val="1A2161"/>
                </a:solidFill>
                <a:latin typeface="Open Sans"/>
                <a:ea typeface="Open Sans"/>
                <a:cs typeface="Open Sans"/>
                <a:sym typeface="Open Sans"/>
              </a:rPr>
              <a:t>tgreSQL + PostGIS</a:t>
            </a:r>
          </a:p>
        </p:txBody>
      </p:sp>
      <p:sp>
        <p:nvSpPr>
          <p:cNvPr name="AutoShape 14" id="14"/>
          <p:cNvSpPr/>
          <p:nvPr/>
        </p:nvSpPr>
        <p:spPr>
          <a:xfrm>
            <a:off x="9459852" y="2018796"/>
            <a:ext cx="0" cy="4201362"/>
          </a:xfrm>
          <a:prstGeom prst="line">
            <a:avLst/>
          </a:prstGeom>
          <a:ln cap="rnd" w="95250">
            <a:gradFill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629560" y="1183292"/>
            <a:ext cx="7629740" cy="3566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24"/>
              </a:lnSpc>
            </a:pPr>
            <a:r>
              <a:rPr lang="en-US" b="true" sz="9589">
                <a:solidFill>
                  <a:srgbClr val="EBE2CD"/>
                </a:solidFill>
                <a:latin typeface="Heading Now 61-68 Bold"/>
                <a:ea typeface="Heading Now 61-68 Bold"/>
                <a:cs typeface="Heading Now 61-68 Bold"/>
                <a:sym typeface="Heading Now 61-68 Bold"/>
              </a:rPr>
              <a:t>PHÂN TÍCH</a:t>
            </a:r>
          </a:p>
          <a:p>
            <a:pPr algn="ctr">
              <a:lnSpc>
                <a:spcPts val="13424"/>
              </a:lnSpc>
            </a:pPr>
            <a:r>
              <a:rPr lang="en-US" b="true" sz="9589">
                <a:solidFill>
                  <a:srgbClr val="EBE2CD"/>
                </a:solidFill>
                <a:latin typeface="Heading Now 61-68 Bold"/>
                <a:ea typeface="Heading Now 61-68 Bold"/>
                <a:cs typeface="Heading Now 61-68 Bold"/>
                <a:sym typeface="Heading Now 61-68 Bold"/>
              </a:rPr>
              <a:t> &amp;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54687" y="4724400"/>
            <a:ext cx="6628049" cy="3566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24"/>
              </a:lnSpc>
            </a:pPr>
            <a:r>
              <a:rPr lang="en-US" b="true" sz="9589">
                <a:solidFill>
                  <a:srgbClr val="EBE2CD"/>
                </a:solidFill>
                <a:latin typeface="Heading Now 61-68 Bold"/>
                <a:ea typeface="Heading Now 61-68 Bold"/>
                <a:cs typeface="Heading Now 61-68 Bold"/>
                <a:sym typeface="Heading Now 61-68 Bold"/>
              </a:rPr>
              <a:t>THIẾT KẾ HỆ THỐNG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568711" y="-4805116"/>
            <a:ext cx="9438577" cy="6748583"/>
          </a:xfrm>
          <a:custGeom>
            <a:avLst/>
            <a:gdLst/>
            <a:ahLst/>
            <a:cxnLst/>
            <a:rect r="r" b="b" t="t" l="l"/>
            <a:pathLst>
              <a:path h="6748583" w="9438577">
                <a:moveTo>
                  <a:pt x="0" y="0"/>
                </a:moveTo>
                <a:lnTo>
                  <a:pt x="9438578" y="0"/>
                </a:lnTo>
                <a:lnTo>
                  <a:pt x="9438578" y="6748583"/>
                </a:lnTo>
                <a:lnTo>
                  <a:pt x="0" y="67485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128358" y="-1345011"/>
            <a:ext cx="4155559" cy="3571183"/>
            <a:chOff x="0" y="0"/>
            <a:chExt cx="812800" cy="698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31A1D4">
                    <a:alpha val="35000"/>
                  </a:srgbClr>
                </a:gs>
                <a:gs pos="100000">
                  <a:srgbClr val="035E8E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234643" y="-327456"/>
            <a:ext cx="1787431" cy="1536073"/>
            <a:chOff x="0" y="0"/>
            <a:chExt cx="812800" cy="698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31A1D4">
                    <a:alpha val="35000"/>
                  </a:srgbClr>
                </a:gs>
                <a:gs pos="100000">
                  <a:srgbClr val="035E8E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7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2108849" y="6034841"/>
            <a:ext cx="9438577" cy="6748583"/>
          </a:xfrm>
          <a:custGeom>
            <a:avLst/>
            <a:gdLst/>
            <a:ahLst/>
            <a:cxnLst/>
            <a:rect r="r" b="b" t="t" l="l"/>
            <a:pathLst>
              <a:path h="6748583" w="9438577">
                <a:moveTo>
                  <a:pt x="0" y="0"/>
                </a:moveTo>
                <a:lnTo>
                  <a:pt x="9438578" y="0"/>
                </a:lnTo>
                <a:lnTo>
                  <a:pt x="9438578" y="6748583"/>
                </a:lnTo>
                <a:lnTo>
                  <a:pt x="0" y="67485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153315" y="1831283"/>
            <a:ext cx="6624434" cy="6624434"/>
          </a:xfrm>
          <a:custGeom>
            <a:avLst/>
            <a:gdLst/>
            <a:ahLst/>
            <a:cxnLst/>
            <a:rect r="r" b="b" t="t" l="l"/>
            <a:pathLst>
              <a:path h="6624434" w="6624434">
                <a:moveTo>
                  <a:pt x="0" y="0"/>
                </a:moveTo>
                <a:lnTo>
                  <a:pt x="6624434" y="0"/>
                </a:lnTo>
                <a:lnTo>
                  <a:pt x="6624434" y="6624434"/>
                </a:lnTo>
                <a:lnTo>
                  <a:pt x="0" y="66244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-1482992" y="7162049"/>
            <a:ext cx="3636307" cy="3124951"/>
            <a:chOff x="0" y="0"/>
            <a:chExt cx="812800" cy="698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31A1D4">
                    <a:alpha val="35000"/>
                  </a:srgbClr>
                </a:gs>
                <a:gs pos="100000">
                  <a:srgbClr val="035E8E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7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8501408"/>
            <a:ext cx="4155559" cy="3571183"/>
            <a:chOff x="0" y="0"/>
            <a:chExt cx="812800" cy="698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31A1D4">
                    <a:alpha val="35000"/>
                  </a:srgbClr>
                </a:gs>
                <a:gs pos="100000">
                  <a:srgbClr val="035E8E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7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35162" y="6342923"/>
            <a:ext cx="1906328" cy="1638251"/>
            <a:chOff x="0" y="0"/>
            <a:chExt cx="812800" cy="6985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31A1D4">
                    <a:alpha val="35000"/>
                  </a:srgbClr>
                </a:gs>
                <a:gs pos="100000">
                  <a:srgbClr val="035E8E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7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746822" y="8501408"/>
            <a:ext cx="1510485" cy="1298073"/>
            <a:chOff x="0" y="0"/>
            <a:chExt cx="812800" cy="6985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true">
              <a:gsLst>
                <a:gs pos="0">
                  <a:srgbClr val="31A1D4">
                    <a:alpha val="47000"/>
                  </a:srgbClr>
                </a:gs>
                <a:gs pos="100000">
                  <a:srgbClr val="035E8E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7"/>
                </a:lnSpc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5A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1913403" cy="10287000"/>
          </a:xfrm>
          <a:custGeom>
            <a:avLst/>
            <a:gdLst/>
            <a:ahLst/>
            <a:cxnLst/>
            <a:rect r="r" b="b" t="t" l="l"/>
            <a:pathLst>
              <a:path h="10287000" w="11913403">
                <a:moveTo>
                  <a:pt x="0" y="0"/>
                </a:moveTo>
                <a:lnTo>
                  <a:pt x="11913403" y="0"/>
                </a:lnTo>
                <a:lnTo>
                  <a:pt x="1191340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487149" y="3878198"/>
            <a:ext cx="5133449" cy="2397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17"/>
              </a:lnSpc>
            </a:pPr>
            <a:r>
              <a:rPr lang="en-US" sz="6869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USE CASE TỔNG QUÁT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5A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090433" cy="10287000"/>
          </a:xfrm>
          <a:custGeom>
            <a:avLst/>
            <a:gdLst/>
            <a:ahLst/>
            <a:cxnLst/>
            <a:rect r="r" b="b" t="t" l="l"/>
            <a:pathLst>
              <a:path h="10287000" w="10090433">
                <a:moveTo>
                  <a:pt x="0" y="0"/>
                </a:moveTo>
                <a:lnTo>
                  <a:pt x="10090433" y="0"/>
                </a:lnTo>
                <a:lnTo>
                  <a:pt x="1009043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987012" y="3268598"/>
            <a:ext cx="6272288" cy="3616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17"/>
              </a:lnSpc>
            </a:pPr>
            <a:r>
              <a:rPr lang="en-US" sz="6869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BIỂU ĐỒ TUẦN TỰ ĐĂNG TIN MUỐN CHO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5A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1798877" cy="10287000"/>
          </a:xfrm>
          <a:custGeom>
            <a:avLst/>
            <a:gdLst/>
            <a:ahLst/>
            <a:cxnLst/>
            <a:rect r="r" b="b" t="t" l="l"/>
            <a:pathLst>
              <a:path h="10287000" w="11798877">
                <a:moveTo>
                  <a:pt x="0" y="0"/>
                </a:moveTo>
                <a:lnTo>
                  <a:pt x="11798877" y="0"/>
                </a:lnTo>
                <a:lnTo>
                  <a:pt x="1179887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480431" y="3268598"/>
            <a:ext cx="5826619" cy="3616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17"/>
              </a:lnSpc>
            </a:pPr>
            <a:r>
              <a:rPr lang="en-US" sz="6869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BIỂU ĐỒ HOẠT ĐỘNG DUYỆT TIN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0" t="-1132" r="0" b="-113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207553" y="8173085"/>
            <a:ext cx="5051747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BIỂU ĐỒ LỚP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832785" y="-2804085"/>
            <a:ext cx="10287000" cy="15895170"/>
          </a:xfrm>
          <a:custGeom>
            <a:avLst/>
            <a:gdLst/>
            <a:ahLst/>
            <a:cxnLst/>
            <a:rect r="r" b="b" t="t" l="l"/>
            <a:pathLst>
              <a:path h="15895170" w="10287000">
                <a:moveTo>
                  <a:pt x="0" y="0"/>
                </a:moveTo>
                <a:lnTo>
                  <a:pt x="10287000" y="0"/>
                </a:lnTo>
                <a:lnTo>
                  <a:pt x="10287000" y="15895170"/>
                </a:lnTo>
                <a:lnTo>
                  <a:pt x="0" y="158951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12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461381" y="895350"/>
            <a:ext cx="5826619" cy="2397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17"/>
              </a:lnSpc>
            </a:pPr>
            <a:r>
              <a:rPr lang="en-US" sz="686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BIỂU ĐỒ CƠ SỞ DỮ LIỆU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828800" y="-1828800"/>
            <a:ext cx="21945600" cy="139446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5077998" y="6812392"/>
            <a:ext cx="8132003" cy="608965"/>
            <a:chOff x="0" y="0"/>
            <a:chExt cx="10842671" cy="811953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14300"/>
              <a:ext cx="5397500" cy="6976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79"/>
                </a:lnSpc>
              </a:pPr>
              <a:r>
                <a:rPr lang="en-US" b="true" sz="3999" spc="159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LINK WEBSITE: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5655459" y="75565"/>
              <a:ext cx="5187212" cy="6131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u="sng">
                  <a:solidFill>
                    <a:srgbClr val="FFFFFF"/>
                  </a:solidFill>
                  <a:latin typeface="Playfair Display"/>
                  <a:ea typeface="Playfair Display"/>
                  <a:cs typeface="Playfair Display"/>
                  <a:sym typeface="Playfair Display"/>
                  <a:hlinkClick r:id="rId3" tooltip="https://hotrocuutro.site"/>
                </a:rPr>
                <a:t>https://hotrocuutro.site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5A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8308" y="-788403"/>
            <a:ext cx="19691459" cy="3786298"/>
            <a:chOff x="0" y="0"/>
            <a:chExt cx="5186228" cy="9972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6228" cy="997214"/>
            </a:xfrm>
            <a:custGeom>
              <a:avLst/>
              <a:gdLst/>
              <a:ahLst/>
              <a:cxnLst/>
              <a:rect r="r" b="b" t="t" l="l"/>
              <a:pathLst>
                <a:path h="997214" w="5186228">
                  <a:moveTo>
                    <a:pt x="0" y="0"/>
                  </a:moveTo>
                  <a:lnTo>
                    <a:pt x="5186228" y="0"/>
                  </a:lnTo>
                  <a:lnTo>
                    <a:pt x="5186228" y="997214"/>
                  </a:lnTo>
                  <a:lnTo>
                    <a:pt x="0" y="9972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86228" cy="1035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207862">
            <a:off x="-2141772" y="-2961504"/>
            <a:ext cx="15048401" cy="6376760"/>
          </a:xfrm>
          <a:custGeom>
            <a:avLst/>
            <a:gdLst/>
            <a:ahLst/>
            <a:cxnLst/>
            <a:rect r="r" b="b" t="t" l="l"/>
            <a:pathLst>
              <a:path h="6376760" w="15048401">
                <a:moveTo>
                  <a:pt x="0" y="0"/>
                </a:moveTo>
                <a:lnTo>
                  <a:pt x="15048401" y="0"/>
                </a:lnTo>
                <a:lnTo>
                  <a:pt x="15048401" y="6376760"/>
                </a:lnTo>
                <a:lnTo>
                  <a:pt x="0" y="63767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10767060" y="1531875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515303" y="876185"/>
            <a:ext cx="9734251" cy="1178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19"/>
              </a:lnSpc>
            </a:pPr>
            <a:r>
              <a:rPr lang="en-US" sz="687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KẾT LUẬN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872174"/>
            <a:ext cx="6099596" cy="494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9"/>
              </a:lnSpc>
            </a:pPr>
            <a:r>
              <a:rPr lang="en-US" sz="3999" spc="159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KẾT QUẢ ĐÃ ĐẠT ĐƯỢC: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681164"/>
            <a:ext cx="16230600" cy="458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9" indent="-302260" lvl="1">
              <a:lnSpc>
                <a:spcPts val="6159"/>
              </a:lnSpc>
              <a:buFont typeface="Arial"/>
              <a:buChar char="•"/>
            </a:pPr>
            <a:r>
              <a:rPr lang="en-US" sz="2799" spc="55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Xây dựng thành công nền tảng ReliefConnect hỗ trợ kết nối cứu trợ cộng đồng.</a:t>
            </a:r>
          </a:p>
          <a:p>
            <a:pPr algn="just" marL="604519" indent="-302260" lvl="1">
              <a:lnSpc>
                <a:spcPts val="6159"/>
              </a:lnSpc>
              <a:buFont typeface="Arial"/>
              <a:buChar char="•"/>
            </a:pPr>
            <a:r>
              <a:rPr lang="en-US" sz="2799" spc="55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Triển khai bản đồ SOS realtime, chatbot AI và hệ thống thông báo SignalR.</a:t>
            </a:r>
          </a:p>
          <a:p>
            <a:pPr algn="just" marL="604519" indent="-302260" lvl="1">
              <a:lnSpc>
                <a:spcPts val="6159"/>
              </a:lnSpc>
              <a:buFont typeface="Arial"/>
              <a:buChar char="•"/>
            </a:pPr>
            <a:r>
              <a:rPr lang="en-US" sz="2799" spc="55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Hỗ trợ quản lý vật phẩm, xác minh vai trò và quản trị hệ thống.</a:t>
            </a:r>
          </a:p>
          <a:p>
            <a:pPr algn="just" marL="604519" indent="-302260" lvl="1">
              <a:lnSpc>
                <a:spcPts val="6159"/>
              </a:lnSpc>
              <a:buFont typeface="Arial"/>
              <a:buChar char="•"/>
            </a:pPr>
            <a:r>
              <a:rPr lang="en-US" sz="2799" spc="55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Tích hợp chatbot AI Gemini, PayOS, Google OAuth và Supabase Storage.</a:t>
            </a:r>
          </a:p>
          <a:p>
            <a:pPr algn="just" marL="604519" indent="-302260" lvl="1">
              <a:lnSpc>
                <a:spcPts val="6159"/>
              </a:lnSpc>
              <a:buFont typeface="Arial"/>
              <a:buChar char="•"/>
            </a:pPr>
            <a:r>
              <a:rPr lang="en-US" sz="2799" spc="55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Áp dụng React 19, ASP.NET Core 10 Web API, PostgreSQL/PostGIS.</a:t>
            </a:r>
          </a:p>
          <a:p>
            <a:pPr algn="just" marL="604519" indent="-302260" lvl="1">
              <a:lnSpc>
                <a:spcPts val="6159"/>
              </a:lnSpc>
              <a:buFont typeface="Arial"/>
              <a:buChar char="•"/>
            </a:pPr>
            <a:r>
              <a:rPr lang="en-US" sz="2799" spc="55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Đảm bảo bảo mật cơ bản: phân quyền, BCrypt, OTP Email, chống XSS.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5A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8308" y="-788403"/>
            <a:ext cx="19691459" cy="3786298"/>
            <a:chOff x="0" y="0"/>
            <a:chExt cx="5186228" cy="9972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6228" cy="997214"/>
            </a:xfrm>
            <a:custGeom>
              <a:avLst/>
              <a:gdLst/>
              <a:ahLst/>
              <a:cxnLst/>
              <a:rect r="r" b="b" t="t" l="l"/>
              <a:pathLst>
                <a:path h="997214" w="5186228">
                  <a:moveTo>
                    <a:pt x="0" y="0"/>
                  </a:moveTo>
                  <a:lnTo>
                    <a:pt x="5186228" y="0"/>
                  </a:lnTo>
                  <a:lnTo>
                    <a:pt x="5186228" y="997214"/>
                  </a:lnTo>
                  <a:lnTo>
                    <a:pt x="0" y="9972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86228" cy="1035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207862">
            <a:off x="-2141772" y="-2961504"/>
            <a:ext cx="15048401" cy="6376760"/>
          </a:xfrm>
          <a:custGeom>
            <a:avLst/>
            <a:gdLst/>
            <a:ahLst/>
            <a:cxnLst/>
            <a:rect r="r" b="b" t="t" l="l"/>
            <a:pathLst>
              <a:path h="6376760" w="15048401">
                <a:moveTo>
                  <a:pt x="0" y="0"/>
                </a:moveTo>
                <a:lnTo>
                  <a:pt x="15048401" y="0"/>
                </a:lnTo>
                <a:lnTo>
                  <a:pt x="15048401" y="6376760"/>
                </a:lnTo>
                <a:lnTo>
                  <a:pt x="0" y="63767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10767060" y="1531875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515303" y="876185"/>
            <a:ext cx="9734251" cy="1178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19"/>
              </a:lnSpc>
            </a:pPr>
            <a:r>
              <a:rPr lang="en-US" sz="687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KẾT LUẬN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679143"/>
            <a:ext cx="16230600" cy="380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9" indent="-302260" lvl="1">
              <a:lnSpc>
                <a:spcPts val="6159"/>
              </a:lnSpc>
              <a:buFont typeface="Arial"/>
              <a:buChar char="•"/>
            </a:pPr>
            <a:r>
              <a:rPr lang="en-US" sz="2799" spc="55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Tiếp tục xây dựng các chức năng còn thiếu.</a:t>
            </a:r>
          </a:p>
          <a:p>
            <a:pPr algn="just" marL="604519" indent="-302260" lvl="1">
              <a:lnSpc>
                <a:spcPts val="6159"/>
              </a:lnSpc>
              <a:buFont typeface="Arial"/>
              <a:buChar char="•"/>
            </a:pPr>
            <a:r>
              <a:rPr lang="en-US" sz="2799" spc="55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Tối ưu UI/UX và hiệu năng hệ thống.</a:t>
            </a:r>
          </a:p>
          <a:p>
            <a:pPr algn="just" marL="604519" indent="-302260" lvl="1">
              <a:lnSpc>
                <a:spcPts val="6159"/>
              </a:lnSpc>
              <a:buFont typeface="Arial"/>
              <a:buChar char="•"/>
            </a:pPr>
            <a:r>
              <a:rPr lang="en-US" sz="2799" spc="55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Phát triển mobile app và đa ngôn ngữ.</a:t>
            </a:r>
          </a:p>
          <a:p>
            <a:pPr algn="just" marL="604519" indent="-302260" lvl="1">
              <a:lnSpc>
                <a:spcPts val="6159"/>
              </a:lnSpc>
              <a:buFont typeface="Arial"/>
              <a:buChar char="•"/>
            </a:pPr>
            <a:r>
              <a:rPr lang="en-US" sz="2799" spc="55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Hoàn thiện thanh toán trực tuyến và báo cáo nâng cao.</a:t>
            </a:r>
          </a:p>
          <a:p>
            <a:pPr algn="just" marL="604519" indent="-302260" lvl="1">
              <a:lnSpc>
                <a:spcPts val="6159"/>
              </a:lnSpc>
              <a:buFont typeface="Arial"/>
              <a:buChar char="•"/>
            </a:pPr>
            <a:r>
              <a:rPr lang="en-US" sz="2799" spc="55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Mở rộng triển khai môi trường thực tế (Cloud) cho các tình huống cứu trợ thực tế quy mô lớn.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872174"/>
            <a:ext cx="6099596" cy="494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9"/>
              </a:lnSpc>
            </a:pPr>
            <a:r>
              <a:rPr lang="en-US" sz="3999" spc="159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HƯỚNG PHÁT TRIỂN: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8308" y="-788403"/>
            <a:ext cx="19691459" cy="3786298"/>
            <a:chOff x="0" y="0"/>
            <a:chExt cx="5186228" cy="9972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6228" cy="997214"/>
            </a:xfrm>
            <a:custGeom>
              <a:avLst/>
              <a:gdLst/>
              <a:ahLst/>
              <a:cxnLst/>
              <a:rect r="r" b="b" t="t" l="l"/>
              <a:pathLst>
                <a:path h="997214" w="5186228">
                  <a:moveTo>
                    <a:pt x="0" y="0"/>
                  </a:moveTo>
                  <a:lnTo>
                    <a:pt x="5186228" y="0"/>
                  </a:lnTo>
                  <a:lnTo>
                    <a:pt x="5186228" y="997214"/>
                  </a:lnTo>
                  <a:lnTo>
                    <a:pt x="0" y="9972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86228" cy="1035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207862">
            <a:off x="-2141772" y="-2961504"/>
            <a:ext cx="15048401" cy="6376760"/>
          </a:xfrm>
          <a:custGeom>
            <a:avLst/>
            <a:gdLst/>
            <a:ahLst/>
            <a:cxnLst/>
            <a:rect r="r" b="b" t="t" l="l"/>
            <a:pathLst>
              <a:path h="6376760" w="15048401">
                <a:moveTo>
                  <a:pt x="0" y="0"/>
                </a:moveTo>
                <a:lnTo>
                  <a:pt x="15048401" y="0"/>
                </a:lnTo>
                <a:lnTo>
                  <a:pt x="15048401" y="6376760"/>
                </a:lnTo>
                <a:lnTo>
                  <a:pt x="0" y="63767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1795939"/>
            <a:ext cx="16230600" cy="6695122"/>
          </a:xfrm>
          <a:custGeom>
            <a:avLst/>
            <a:gdLst/>
            <a:ahLst/>
            <a:cxnLst/>
            <a:rect r="r" b="b" t="t" l="l"/>
            <a:pathLst>
              <a:path h="6695122" w="16230600">
                <a:moveTo>
                  <a:pt x="0" y="0"/>
                </a:moveTo>
                <a:lnTo>
                  <a:pt x="16230600" y="0"/>
                </a:lnTo>
                <a:lnTo>
                  <a:pt x="16230600" y="6695122"/>
                </a:lnTo>
                <a:lnTo>
                  <a:pt x="0" y="66951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DAHJMMuqQfM</dc:identifier>
  <dcterms:modified xsi:type="dcterms:W3CDTF">2011-08-01T06:04:30Z</dcterms:modified>
  <cp:revision>1</cp:revision>
  <dc:title>Hỗ trợ kết nối người có hoàn cảnh khó khăn</dc:title>
</cp:coreProperties>
</file>